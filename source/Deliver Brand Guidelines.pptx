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3" name="Shape 1"/>
          <p:cNvSpPr/>
          <p:nvPr/>
        </p:nvSpPr>
        <p:spPr>
          <a:xfrm>
            <a:off x="9273480" y="-1234380"/>
            <a:ext cx="10477500" cy="10477500"/>
          </a:xfrm>
          <a:prstGeom prst="rect">
            <a:avLst/>
          </a:prstGeom>
          <a:gradFill rotWithShape="1">
            <a:gsLst>
              <a:gs pos="0">
                <a:srgbClr val="E12B1A">
                  <a:alpha val="32000"/>
                </a:srgbClr>
              </a:gs>
              <a:gs pos="62000">
                <a:srgbClr val="E12B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914400"/>
            <a:ext cx="23571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GUIDELINES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15767000" y="914400"/>
            <a:ext cx="16205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V1.0 — 2026</a:t>
            </a:r>
            <a:endParaRPr lang="en-US" sz="14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3362920"/>
            <a:ext cx="4600426" cy="1409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4982170"/>
            <a:ext cx="178117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Integrated agriculture, operated smarter.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1047750" y="5772745"/>
            <a:ext cx="863346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adalah smart poultry partnership — kami satukan permodalan, sapronak berkualitas, dan akses pasar dalam satu sistem yang terukur, supaya peternak broiler bisa fokus beternak dengan kepastian.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47750" y="9144000"/>
            <a:ext cx="34400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PT SARANA INDONESIA MAJU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15546288" y="9144000"/>
            <a:ext cx="1863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DELIVER.CO.ID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BRAND STORY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2057995"/>
            <a:ext cx="8971318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Beternak harusnya soal beternak — bukan soal modal, sapronak, dan kebingungan menjual.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4180731"/>
            <a:ext cx="8971318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adalah startup agritech broiler </a:t>
            </a:r>
            <a:pPr algn="l" indent="0" marL="0">
              <a:lnSpc>
                <a:spcPct val="155000"/>
              </a:lnSpc>
              <a:buNone/>
            </a:pPr>
            <a:r>
              <a:rPr lang="en-US" sz="1875" i="1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asset-light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yang dioperasikan PT Sarana Indonesia Maju. Kami hadir untuk peternak rakyat yang punya kandang dan kemauan, tapi terjebak siklus berat: modal mahal, sapronak tidak menentu, dan harga jual ditentukan pihak lain.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5895231"/>
            <a:ext cx="8971318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Lewat kemitraan cerdas, Deliver menyediakan permodalan input, sapronak terstandar, dan jaminan akses pasar — dijalankan oleh </a:t>
            </a:r>
            <a:pPr algn="l" indent="0" marL="0">
              <a:lnSpc>
                <a:spcPct val="155000"/>
              </a:lnSpc>
              <a:buNone/>
            </a:pPr>
            <a:r>
              <a:rPr lang="en-US" sz="1875" i="1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system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yang membuat setiap siklus terukur dan transparan.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0272117" y="2669828"/>
            <a:ext cx="6968133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7" name="Text 5"/>
          <p:cNvSpPr/>
          <p:nvPr/>
        </p:nvSpPr>
        <p:spPr>
          <a:xfrm>
            <a:off x="10272117" y="2907953"/>
            <a:ext cx="76649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272117" y="3260378"/>
            <a:ext cx="76649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Modal yang membebani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272117" y="3736628"/>
            <a:ext cx="717717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Biaya input di muka terlalu berat. Deliver menanggung permodalan sapronak; peternak fokus ke operasional kandang.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272117" y="4660553"/>
            <a:ext cx="6968133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1" name="Text 9"/>
          <p:cNvSpPr/>
          <p:nvPr/>
        </p:nvSpPr>
        <p:spPr>
          <a:xfrm>
            <a:off x="10272117" y="4898678"/>
            <a:ext cx="76649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72117" y="5251103"/>
            <a:ext cx="76649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Sapronak tak menentu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272117" y="5727353"/>
            <a:ext cx="717717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Kualitas DOC, pakan, dan obat sering tidak konsisten. Kami pasok sapronak terstandar yang bisa dipertanggungjawabkan.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0272117" y="6651278"/>
            <a:ext cx="6968133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272117" y="6889403"/>
            <a:ext cx="76649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03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272117" y="7241828"/>
            <a:ext cx="76649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Akses pasar yang timpang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272117" y="7718078"/>
            <a:ext cx="717717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Harga jual ditentukan pihak lain. Deliver menjamin serapan panen lewat jaringan pasar yang terhubung ke sistem.</a:t>
            </a:r>
            <a:endParaRPr lang="en-US" sz="157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919996" y="9520238"/>
            <a:ext cx="14522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STORY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31491"/>
            <a:ext cx="1157668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Rooster yang membentuk huruf “D”, menyatu dengan wordmark — tegas dan mudah dikenali. Gunakan versi resmi tanpa modifikasi.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50" y="4181177"/>
            <a:ext cx="5054501" cy="2190750"/>
          </a:xfrm>
          <a:prstGeom prst="roundRect">
            <a:avLst>
              <a:gd name="adj" fmla="val 3478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795" y="4905077"/>
            <a:ext cx="2424410" cy="742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6601" y="4181177"/>
            <a:ext cx="50546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46" y="4905077"/>
            <a:ext cx="2424410" cy="7429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185600" y="4181177"/>
            <a:ext cx="5054650" cy="2190750"/>
          </a:xfrm>
          <a:prstGeom prst="roundRect">
            <a:avLst>
              <a:gd name="adj" fmla="val 3478"/>
            </a:avLst>
          </a:prstGeom>
          <a:solidFill>
            <a:srgbClr val="ECE9E3"/>
          </a:solidFill>
          <a:ln w="9525">
            <a:solidFill>
              <a:srgbClr val="E5E1D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646" y="4905077"/>
            <a:ext cx="2424410" cy="742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7750" y="7164735"/>
            <a:ext cx="95810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Clear space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47750" y="7852767"/>
            <a:ext cx="89713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Jaga ruang bebas minimal setinggi huruf “D” (1×) di tiap sisi.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47750" y="8348067"/>
            <a:ext cx="8710017" cy="2190750"/>
          </a:xfrm>
          <a:prstGeom prst="roundRect">
            <a:avLst>
              <a:gd name="adj" fmla="val 3478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848546" y="8557617"/>
            <a:ext cx="3108275" cy="1771650"/>
          </a:xfrm>
          <a:prstGeom prst="rect">
            <a:avLst/>
          </a:prstGeom>
          <a:ln w="19050">
            <a:solidFill>
              <a:srgbClr val="E12B1A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96" y="9148167"/>
            <a:ext cx="1927175" cy="5905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23495" y="8471892"/>
            <a:ext cx="358229" cy="219075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16" name="Text 10"/>
          <p:cNvSpPr/>
          <p:nvPr/>
        </p:nvSpPr>
        <p:spPr>
          <a:xfrm>
            <a:off x="5299695" y="8471892"/>
            <a:ext cx="2416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1×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223495" y="10195917"/>
            <a:ext cx="358229" cy="219075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18" name="Text 12"/>
          <p:cNvSpPr/>
          <p:nvPr/>
        </p:nvSpPr>
        <p:spPr>
          <a:xfrm>
            <a:off x="5299695" y="10195917"/>
            <a:ext cx="2416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1×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272117" y="7164735"/>
            <a:ext cx="76649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Minimum size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0272117" y="7852767"/>
            <a:ext cx="71771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Jangan tampilkan di bawah ukuran minimum agar titik tetap terbaca.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10272117" y="8348067"/>
            <a:ext cx="6968133" cy="2190750"/>
          </a:xfrm>
          <a:prstGeom prst="roundRect">
            <a:avLst>
              <a:gd name="adj" fmla="val 3478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3198" y="9014817"/>
            <a:ext cx="1740694" cy="533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686163" y="9681567"/>
            <a:ext cx="19147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Digital · 160px min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1252" y="9138642"/>
            <a:ext cx="932408" cy="2857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202735" y="9557742"/>
            <a:ext cx="16094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 · 26mm min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4959905" y="9520238"/>
            <a:ext cx="2508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· CONSTRUCTION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— LOGO · DO'S &amp; DON'TS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047750" y="1615380"/>
            <a:ext cx="3848100" cy="372621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275" y="1624905"/>
            <a:ext cx="3829050" cy="2874913"/>
          </a:xfrm>
          <a:prstGeom prst="rect">
            <a:avLst/>
          </a:prstGeom>
          <a:solidFill>
            <a:srgbClr val="F6F4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13" y="2852738"/>
            <a:ext cx="2530026" cy="41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7275" y="449981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7" name="Shape 4"/>
          <p:cNvSpPr/>
          <p:nvPr/>
        </p:nvSpPr>
        <p:spPr>
          <a:xfrm>
            <a:off x="1247775" y="4680793"/>
            <a:ext cx="674489" cy="247650"/>
          </a:xfrm>
          <a:prstGeom prst="roundRect">
            <a:avLst>
              <a:gd name="adj" fmla="val 15385"/>
            </a:avLst>
          </a:prstGeom>
          <a:solidFill>
            <a:srgbClr val="FBE7E4"/>
          </a:solidFill>
          <a:ln/>
        </p:spPr>
      </p:sp>
      <p:sp>
        <p:nvSpPr>
          <p:cNvPr id="8" name="Text 5"/>
          <p:cNvSpPr/>
          <p:nvPr/>
        </p:nvSpPr>
        <p:spPr>
          <a:xfrm>
            <a:off x="1333500" y="4709368"/>
            <a:ext cx="57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B81F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DON'T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36564" y="4680793"/>
            <a:ext cx="273903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Jangan stretch atau ubah proporsi.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62550" y="1615380"/>
            <a:ext cx="3848100" cy="372621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72075" y="1624905"/>
            <a:ext cx="3829050" cy="2874913"/>
          </a:xfrm>
          <a:prstGeom prst="rect">
            <a:avLst/>
          </a:prstGeom>
          <a:solidFill>
            <a:srgbClr val="F6F4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630" y="2843213"/>
            <a:ext cx="1429792" cy="4381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72075" y="449981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4" name="Shape 10"/>
          <p:cNvSpPr/>
          <p:nvPr/>
        </p:nvSpPr>
        <p:spPr>
          <a:xfrm>
            <a:off x="5362575" y="4680793"/>
            <a:ext cx="674489" cy="247650"/>
          </a:xfrm>
          <a:prstGeom prst="roundRect">
            <a:avLst>
              <a:gd name="adj" fmla="val 15385"/>
            </a:avLst>
          </a:prstGeom>
          <a:solidFill>
            <a:srgbClr val="FBE7E4"/>
          </a:solidFill>
          <a:ln/>
        </p:spPr>
      </p:sp>
      <p:sp>
        <p:nvSpPr>
          <p:cNvPr id="15" name="Text 11"/>
          <p:cNvSpPr/>
          <p:nvPr/>
        </p:nvSpPr>
        <p:spPr>
          <a:xfrm>
            <a:off x="5448300" y="4709368"/>
            <a:ext cx="57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B81F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DON'T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51364" y="4680793"/>
            <a:ext cx="273903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Jangan ganti warna di luar palet brand.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9277350" y="1615380"/>
            <a:ext cx="3848100" cy="372621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86875" y="1624905"/>
            <a:ext cx="3829050" cy="2874913"/>
          </a:xfrm>
          <a:prstGeom prst="rect">
            <a:avLst/>
          </a:prstGeom>
          <a:solidFill>
            <a:srgbClr val="2023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430" y="2843213"/>
            <a:ext cx="1429792" cy="4381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286875" y="449981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1" name="Shape 16"/>
          <p:cNvSpPr/>
          <p:nvPr/>
        </p:nvSpPr>
        <p:spPr>
          <a:xfrm>
            <a:off x="9477375" y="4680793"/>
            <a:ext cx="674489" cy="247650"/>
          </a:xfrm>
          <a:prstGeom prst="roundRect">
            <a:avLst>
              <a:gd name="adj" fmla="val 15385"/>
            </a:avLst>
          </a:prstGeom>
          <a:solidFill>
            <a:srgbClr val="FBE7E4"/>
          </a:solidFill>
          <a:ln/>
        </p:spPr>
      </p:sp>
      <p:sp>
        <p:nvSpPr>
          <p:cNvPr id="22" name="Text 17"/>
          <p:cNvSpPr/>
          <p:nvPr/>
        </p:nvSpPr>
        <p:spPr>
          <a:xfrm>
            <a:off x="9563100" y="4709368"/>
            <a:ext cx="57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B81F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DON'T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266164" y="4680793"/>
            <a:ext cx="273903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Hindari kontras rendah di latar gelap.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13392150" y="1615380"/>
            <a:ext cx="3848100" cy="372621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3401675" y="1624905"/>
            <a:ext cx="3829050" cy="2874913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26" name="Shape 21"/>
          <p:cNvSpPr/>
          <p:nvPr/>
        </p:nvSpPr>
        <p:spPr>
          <a:xfrm>
            <a:off x="13401675" y="1624905"/>
            <a:ext cx="3829050" cy="2874913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1230" y="2843213"/>
            <a:ext cx="1429792" cy="43815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401675" y="449981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9" name="Shape 23"/>
          <p:cNvSpPr/>
          <p:nvPr/>
        </p:nvSpPr>
        <p:spPr>
          <a:xfrm>
            <a:off x="13592175" y="4680793"/>
            <a:ext cx="674489" cy="247650"/>
          </a:xfrm>
          <a:prstGeom prst="roundRect">
            <a:avLst>
              <a:gd name="adj" fmla="val 15385"/>
            </a:avLst>
          </a:prstGeom>
          <a:solidFill>
            <a:srgbClr val="FBE7E4"/>
          </a:solidFill>
          <a:ln/>
        </p:spPr>
      </p:sp>
      <p:sp>
        <p:nvSpPr>
          <p:cNvPr id="30" name="Text 24"/>
          <p:cNvSpPr/>
          <p:nvPr/>
        </p:nvSpPr>
        <p:spPr>
          <a:xfrm>
            <a:off x="13677900" y="4709368"/>
            <a:ext cx="579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B81F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DON'T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4380964" y="4680793"/>
            <a:ext cx="2739039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Tanpa shadow/outline; jangan di foto ramai.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1047750" y="5608290"/>
            <a:ext cx="3848100" cy="3764310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57275" y="5617815"/>
            <a:ext cx="3829050" cy="3145185"/>
          </a:xfrm>
          <a:prstGeom prst="rect">
            <a:avLst/>
          </a:prstGeom>
          <a:solidFill>
            <a:srgbClr val="F6F4F0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768" y="6952208"/>
            <a:ext cx="1554063" cy="47625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57275" y="8763000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6" name="Shape 29"/>
          <p:cNvSpPr/>
          <p:nvPr/>
        </p:nvSpPr>
        <p:spPr>
          <a:xfrm>
            <a:off x="1247775" y="8943975"/>
            <a:ext cx="372666" cy="247650"/>
          </a:xfrm>
          <a:prstGeom prst="roundRect">
            <a:avLst>
              <a:gd name="adj" fmla="val 15385"/>
            </a:avLst>
          </a:prstGeom>
          <a:solidFill>
            <a:srgbClr val="E4F0EA"/>
          </a:solidFill>
          <a:ln/>
        </p:spPr>
      </p:sp>
      <p:sp>
        <p:nvSpPr>
          <p:cNvPr id="37" name="Text 30"/>
          <p:cNvSpPr/>
          <p:nvPr/>
        </p:nvSpPr>
        <p:spPr>
          <a:xfrm>
            <a:off x="1333500" y="8972550"/>
            <a:ext cx="277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734741" y="8943975"/>
            <a:ext cx="286690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Gunakan logo resmi, proporsi asli.</a:t>
            </a:r>
            <a:endParaRPr lang="en-US" sz="1350" dirty="0"/>
          </a:p>
        </p:txBody>
      </p:sp>
      <p:sp>
        <p:nvSpPr>
          <p:cNvPr id="39" name="Shape 32"/>
          <p:cNvSpPr/>
          <p:nvPr/>
        </p:nvSpPr>
        <p:spPr>
          <a:xfrm>
            <a:off x="5162550" y="5608290"/>
            <a:ext cx="3848100" cy="3764310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172075" y="5617815"/>
            <a:ext cx="3829050" cy="314518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568" y="6952208"/>
            <a:ext cx="1554063" cy="47625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5172075" y="8763000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3" name="Shape 35"/>
          <p:cNvSpPr/>
          <p:nvPr/>
        </p:nvSpPr>
        <p:spPr>
          <a:xfrm>
            <a:off x="5362575" y="8943975"/>
            <a:ext cx="372666" cy="247650"/>
          </a:xfrm>
          <a:prstGeom prst="roundRect">
            <a:avLst>
              <a:gd name="adj" fmla="val 15385"/>
            </a:avLst>
          </a:prstGeom>
          <a:solidFill>
            <a:srgbClr val="E4F0EA"/>
          </a:solidFill>
          <a:ln/>
        </p:spPr>
      </p:sp>
      <p:sp>
        <p:nvSpPr>
          <p:cNvPr id="44" name="Text 36"/>
          <p:cNvSpPr/>
          <p:nvPr/>
        </p:nvSpPr>
        <p:spPr>
          <a:xfrm>
            <a:off x="5448300" y="8972550"/>
            <a:ext cx="277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5849541" y="8943975"/>
            <a:ext cx="324327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Pastikan kontras cukup terhadap latar.</a:t>
            </a:r>
            <a:endParaRPr lang="en-US" sz="1350" dirty="0"/>
          </a:p>
        </p:txBody>
      </p:sp>
      <p:sp>
        <p:nvSpPr>
          <p:cNvPr id="46" name="Shape 38"/>
          <p:cNvSpPr/>
          <p:nvPr/>
        </p:nvSpPr>
        <p:spPr>
          <a:xfrm>
            <a:off x="9277350" y="5608290"/>
            <a:ext cx="3848100" cy="3764310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286875" y="5617815"/>
            <a:ext cx="3829050" cy="2913013"/>
          </a:xfrm>
          <a:prstGeom prst="rect">
            <a:avLst/>
          </a:prstGeom>
          <a:solidFill>
            <a:srgbClr val="ECE9E3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368" y="6836122"/>
            <a:ext cx="1554063" cy="47625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9286875" y="853082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50" name="Shape 41"/>
          <p:cNvSpPr/>
          <p:nvPr/>
        </p:nvSpPr>
        <p:spPr>
          <a:xfrm>
            <a:off x="9477375" y="8711803"/>
            <a:ext cx="372666" cy="247650"/>
          </a:xfrm>
          <a:prstGeom prst="roundRect">
            <a:avLst>
              <a:gd name="adj" fmla="val 15385"/>
            </a:avLst>
          </a:prstGeom>
          <a:solidFill>
            <a:srgbClr val="E4F0EA"/>
          </a:solidFill>
          <a:ln/>
        </p:spPr>
      </p:sp>
      <p:sp>
        <p:nvSpPr>
          <p:cNvPr id="51" name="Text 42"/>
          <p:cNvSpPr/>
          <p:nvPr/>
        </p:nvSpPr>
        <p:spPr>
          <a:xfrm>
            <a:off x="9563100" y="8740378"/>
            <a:ext cx="277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9964341" y="8711803"/>
            <a:ext cx="3049917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Gunakan versi berwarna di latar netral terang.</a:t>
            </a:r>
            <a:endParaRPr lang="en-US" sz="1350" dirty="0"/>
          </a:p>
        </p:txBody>
      </p:sp>
      <p:sp>
        <p:nvSpPr>
          <p:cNvPr id="53" name="Shape 44"/>
          <p:cNvSpPr/>
          <p:nvPr/>
        </p:nvSpPr>
        <p:spPr>
          <a:xfrm>
            <a:off x="13392150" y="5608290"/>
            <a:ext cx="3848100" cy="3764310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3401675" y="5617815"/>
            <a:ext cx="3829050" cy="2913013"/>
          </a:xfrm>
          <a:prstGeom prst="rect">
            <a:avLst/>
          </a:prstGeom>
          <a:solidFill>
            <a:srgbClr val="F6F4F0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39168" y="6836122"/>
            <a:ext cx="1554063" cy="476250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3401675" y="8530828"/>
            <a:ext cx="382905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57" name="Shape 47"/>
          <p:cNvSpPr/>
          <p:nvPr/>
        </p:nvSpPr>
        <p:spPr>
          <a:xfrm>
            <a:off x="13592175" y="8711803"/>
            <a:ext cx="372666" cy="247650"/>
          </a:xfrm>
          <a:prstGeom prst="roundRect">
            <a:avLst>
              <a:gd name="adj" fmla="val 15385"/>
            </a:avLst>
          </a:prstGeom>
          <a:solidFill>
            <a:srgbClr val="E4F0EA"/>
          </a:solidFill>
          <a:ln/>
        </p:spPr>
      </p:sp>
      <p:sp>
        <p:nvSpPr>
          <p:cNvPr id="58" name="Text 48"/>
          <p:cNvSpPr/>
          <p:nvPr/>
        </p:nvSpPr>
        <p:spPr>
          <a:xfrm>
            <a:off x="13677900" y="8740378"/>
            <a:ext cx="2774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</a:t>
            </a:r>
            <a:endParaRPr lang="en-US" sz="1200" dirty="0"/>
          </a:p>
        </p:txBody>
      </p:sp>
      <p:sp>
        <p:nvSpPr>
          <p:cNvPr id="59" name="Text 49"/>
          <p:cNvSpPr/>
          <p:nvPr/>
        </p:nvSpPr>
        <p:spPr>
          <a:xfrm>
            <a:off x="14079141" y="8711803"/>
            <a:ext cx="3049917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Hormati clear space &amp; ukuran minimum.</a:t>
            </a:r>
            <a:endParaRPr lang="en-US" sz="1350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15679936" y="9520238"/>
            <a:ext cx="17163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LOGO · MISUSE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 PALETTE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15716"/>
            <a:ext cx="11525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Satu merah yang berani, didasari netral yang tenang.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047750" y="3054251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3063776"/>
            <a:ext cx="3857625" cy="1238250"/>
          </a:xfrm>
          <a:prstGeom prst="rect">
            <a:avLst/>
          </a:prstGeom>
          <a:solidFill>
            <a:srgbClr val="E12B1A"/>
          </a:solidFill>
          <a:ln/>
        </p:spPr>
      </p:sp>
      <p:sp>
        <p:nvSpPr>
          <p:cNvPr id="6" name="Text 4"/>
          <p:cNvSpPr/>
          <p:nvPr/>
        </p:nvSpPr>
        <p:spPr>
          <a:xfrm>
            <a:off x="1266825" y="4492526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Deliver Red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66825" y="499154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506774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85171" y="5067746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#E12B1A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66825" y="535349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1" name="Text 9"/>
          <p:cNvSpPr/>
          <p:nvPr/>
        </p:nvSpPr>
        <p:spPr>
          <a:xfrm>
            <a:off x="1266825" y="542969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79490" y="5429696"/>
            <a:ext cx="100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225·43·26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66825" y="5848796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Aksen utama, CTA, highlight, blok brand.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5153025" y="3054251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2550" y="3063776"/>
            <a:ext cx="3857625" cy="123825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6" name="Text 14"/>
          <p:cNvSpPr/>
          <p:nvPr/>
        </p:nvSpPr>
        <p:spPr>
          <a:xfrm>
            <a:off x="5372100" y="4492526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Ink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72100" y="499154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0" y="506774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90446" y="5067746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#17191C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72100" y="535349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1" name="Text 19"/>
          <p:cNvSpPr/>
          <p:nvPr/>
        </p:nvSpPr>
        <p:spPr>
          <a:xfrm>
            <a:off x="5372100" y="542969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87605" y="5429696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23·25·28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72100" y="5848796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 utama, headline, cover.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9258300" y="3054251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67825" y="3063776"/>
            <a:ext cx="3857625" cy="1238250"/>
          </a:xfrm>
          <a:prstGeom prst="rect">
            <a:avLst/>
          </a:prstGeom>
          <a:solidFill>
            <a:srgbClr val="33373E"/>
          </a:solidFill>
          <a:ln/>
        </p:spPr>
      </p:sp>
      <p:sp>
        <p:nvSpPr>
          <p:cNvPr id="26" name="Text 24"/>
          <p:cNvSpPr/>
          <p:nvPr/>
        </p:nvSpPr>
        <p:spPr>
          <a:xfrm>
            <a:off x="9477375" y="4492526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Charcoal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77375" y="499154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8" name="Text 26"/>
          <p:cNvSpPr/>
          <p:nvPr/>
        </p:nvSpPr>
        <p:spPr>
          <a:xfrm>
            <a:off x="9477375" y="506774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195721" y="5067746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#33373E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477375" y="535349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1" name="Text 29"/>
          <p:cNvSpPr/>
          <p:nvPr/>
        </p:nvSpPr>
        <p:spPr>
          <a:xfrm>
            <a:off x="9477375" y="542969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092880" y="5429696"/>
            <a:ext cx="8992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51·55·62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477375" y="5848796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Body copy, sub-heading, ikon sekunder.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13363575" y="3054251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373100" y="3063776"/>
            <a:ext cx="3857625" cy="12382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36" name="Text 34"/>
          <p:cNvSpPr/>
          <p:nvPr/>
        </p:nvSpPr>
        <p:spPr>
          <a:xfrm>
            <a:off x="13582650" y="4492526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Deliver Green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ACCENT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582650" y="499154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8" name="Text 36"/>
          <p:cNvSpPr/>
          <p:nvPr/>
        </p:nvSpPr>
        <p:spPr>
          <a:xfrm>
            <a:off x="13582650" y="506774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6300996" y="5067746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#1F8A5B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3582650" y="5353496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1" name="Text 39"/>
          <p:cNvSpPr/>
          <p:nvPr/>
        </p:nvSpPr>
        <p:spPr>
          <a:xfrm>
            <a:off x="13582650" y="5429696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6095315" y="5429696"/>
            <a:ext cx="100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31·138·91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3582650" y="5848796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Sinyal positif, growth, validasi data.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047750" y="6674048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7275" y="6683573"/>
            <a:ext cx="3857625" cy="123825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7275" y="7912298"/>
            <a:ext cx="38576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7" name="Text 45"/>
          <p:cNvSpPr/>
          <p:nvPr/>
        </p:nvSpPr>
        <p:spPr>
          <a:xfrm>
            <a:off x="1266825" y="8112323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Off-White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66825" y="861134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9" name="Text 47"/>
          <p:cNvSpPr/>
          <p:nvPr/>
        </p:nvSpPr>
        <p:spPr>
          <a:xfrm>
            <a:off x="1266825" y="868754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3985171" y="8687544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#F6F4F0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1266825" y="897329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52" name="Text 50"/>
          <p:cNvSpPr/>
          <p:nvPr/>
        </p:nvSpPr>
        <p:spPr>
          <a:xfrm>
            <a:off x="1266825" y="904949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573661" y="9049494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246·244·240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266825" y="9468594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Latar utama dokumen, kartu, napas.</a:t>
            </a:r>
            <a:endParaRPr lang="en-US" sz="1275" dirty="0"/>
          </a:p>
        </p:txBody>
      </p:sp>
      <p:sp>
        <p:nvSpPr>
          <p:cNvPr id="55" name="Shape 53"/>
          <p:cNvSpPr/>
          <p:nvPr/>
        </p:nvSpPr>
        <p:spPr>
          <a:xfrm>
            <a:off x="5153025" y="6674048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2550" y="6683573"/>
            <a:ext cx="3857625" cy="1238250"/>
          </a:xfrm>
          <a:prstGeom prst="rect">
            <a:avLst/>
          </a:prstGeom>
          <a:solidFill>
            <a:srgbClr val="8A8D92"/>
          </a:solidFill>
          <a:ln/>
        </p:spPr>
      </p:sp>
      <p:sp>
        <p:nvSpPr>
          <p:cNvPr id="57" name="Text 55"/>
          <p:cNvSpPr/>
          <p:nvPr/>
        </p:nvSpPr>
        <p:spPr>
          <a:xfrm>
            <a:off x="5372100" y="8112323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Grey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372100" y="861134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59" name="Text 57"/>
          <p:cNvSpPr/>
          <p:nvPr/>
        </p:nvSpPr>
        <p:spPr>
          <a:xfrm>
            <a:off x="5372100" y="868754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090446" y="8687544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#8A8D92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5372100" y="897329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62" name="Text 60"/>
          <p:cNvSpPr/>
          <p:nvPr/>
        </p:nvSpPr>
        <p:spPr>
          <a:xfrm>
            <a:off x="5372100" y="904949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678936" y="9049494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138·141·146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5372100" y="9468594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Caption, metadata, label sekunder.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9258300" y="6674048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67825" y="6683573"/>
            <a:ext cx="3857625" cy="1238250"/>
          </a:xfrm>
          <a:prstGeom prst="rect">
            <a:avLst/>
          </a:prstGeom>
          <a:solidFill>
            <a:srgbClr val="E4F0EA"/>
          </a:solidFill>
          <a:ln/>
        </p:spPr>
      </p:sp>
      <p:sp>
        <p:nvSpPr>
          <p:cNvPr id="67" name="Text 65"/>
          <p:cNvSpPr/>
          <p:nvPr/>
        </p:nvSpPr>
        <p:spPr>
          <a:xfrm>
            <a:off x="9477375" y="8112323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 Wash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ACCENT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477375" y="861134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69" name="Text 67"/>
          <p:cNvSpPr/>
          <p:nvPr/>
        </p:nvSpPr>
        <p:spPr>
          <a:xfrm>
            <a:off x="9477375" y="868754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12195721" y="8687544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#E4F0EA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9477375" y="897329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72" name="Text 70"/>
          <p:cNvSpPr/>
          <p:nvPr/>
        </p:nvSpPr>
        <p:spPr>
          <a:xfrm>
            <a:off x="9477375" y="904949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1784211" y="9049494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228·240·234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9477375" y="9468594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Latar badge positif, panel data lembut.</a:t>
            </a:r>
            <a:endParaRPr lang="en-US" sz="1275" dirty="0"/>
          </a:p>
        </p:txBody>
      </p:sp>
      <p:sp>
        <p:nvSpPr>
          <p:cNvPr id="75" name="Shape 73"/>
          <p:cNvSpPr/>
          <p:nvPr/>
        </p:nvSpPr>
        <p:spPr>
          <a:xfrm>
            <a:off x="13363575" y="6674048"/>
            <a:ext cx="3876675" cy="339119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73100" y="6683573"/>
            <a:ext cx="3857625" cy="1238250"/>
          </a:xfrm>
          <a:prstGeom prst="rect">
            <a:avLst/>
          </a:prstGeom>
          <a:solidFill>
            <a:srgbClr val="FBE7E4"/>
          </a:solidFill>
          <a:ln/>
        </p:spPr>
      </p:sp>
      <p:sp>
        <p:nvSpPr>
          <p:cNvPr id="77" name="Text 75"/>
          <p:cNvSpPr/>
          <p:nvPr/>
        </p:nvSpPr>
        <p:spPr>
          <a:xfrm>
            <a:off x="13582650" y="8112323"/>
            <a:ext cx="3782378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373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 Wash </a:t>
            </a:r>
            <a:pPr algn="l" indent="0" marL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SUPPORT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3582650" y="861134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79" name="Text 77"/>
          <p:cNvSpPr/>
          <p:nvPr/>
        </p:nvSpPr>
        <p:spPr>
          <a:xfrm>
            <a:off x="13582650" y="868754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HEX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6300996" y="8687544"/>
            <a:ext cx="796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#FBE7E4</a:t>
            </a:r>
            <a:endParaRPr lang="en-US" sz="1350" dirty="0"/>
          </a:p>
        </p:txBody>
      </p:sp>
      <p:sp>
        <p:nvSpPr>
          <p:cNvPr id="81" name="Shape 79"/>
          <p:cNvSpPr/>
          <p:nvPr/>
        </p:nvSpPr>
        <p:spPr>
          <a:xfrm>
            <a:off x="13582650" y="8973294"/>
            <a:ext cx="343852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82" name="Text 80"/>
          <p:cNvSpPr/>
          <p:nvPr/>
        </p:nvSpPr>
        <p:spPr>
          <a:xfrm>
            <a:off x="13582650" y="9049494"/>
            <a:ext cx="384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RGB</a:t>
            </a:r>
            <a:endParaRPr lang="en-US" sz="1350" dirty="0"/>
          </a:p>
        </p:txBody>
      </p:sp>
      <p:sp>
        <p:nvSpPr>
          <p:cNvPr id="83" name="Text 81"/>
          <p:cNvSpPr/>
          <p:nvPr/>
        </p:nvSpPr>
        <p:spPr>
          <a:xfrm>
            <a:off x="15889486" y="9049494"/>
            <a:ext cx="12078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251·231·228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3582650" y="9468594"/>
            <a:ext cx="378237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Latar tag peringatan &amp; highlight lembut.</a:t>
            </a:r>
            <a:endParaRPr lang="en-US" sz="1275" dirty="0"/>
          </a:p>
        </p:txBody>
      </p:sp>
      <p:pic>
        <p:nvPicPr>
          <p:cNvPr id="8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86" name="Text 83"/>
          <p:cNvSpPr/>
          <p:nvPr/>
        </p:nvSpPr>
        <p:spPr>
          <a:xfrm>
            <a:off x="15319921" y="9520238"/>
            <a:ext cx="21123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· SWATCHES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— COLOR · USAGE RATIO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2010668"/>
            <a:ext cx="117729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750" b="1" spc="-112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Netral mendominasi. Merah memimpin. Hijau memberi sinyal.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047750" y="4615309"/>
            <a:ext cx="13335000" cy="857250"/>
          </a:xfrm>
          <a:prstGeom prst="roundRect">
            <a:avLst>
              <a:gd name="adj" fmla="val 8889"/>
            </a:avLst>
          </a:prstGeom>
          <a:ln w="9525">
            <a:solidFill>
              <a:srgbClr val="E5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4624834"/>
            <a:ext cx="7296150" cy="83820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1304925" y="4624834"/>
            <a:ext cx="70197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53425" y="4624834"/>
            <a:ext cx="3328988" cy="838200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8" name="Text 6"/>
          <p:cNvSpPr/>
          <p:nvPr/>
        </p:nvSpPr>
        <p:spPr>
          <a:xfrm>
            <a:off x="8601075" y="4624834"/>
            <a:ext cx="293355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82413" y="4624834"/>
            <a:ext cx="1628775" cy="838200"/>
          </a:xfrm>
          <a:prstGeom prst="rect">
            <a:avLst/>
          </a:prstGeom>
          <a:solidFill>
            <a:srgbClr val="E12B1A"/>
          </a:solidFill>
          <a:ln/>
        </p:spPr>
      </p:sp>
      <p:sp>
        <p:nvSpPr>
          <p:cNvPr id="10" name="Text 8"/>
          <p:cNvSpPr/>
          <p:nvPr/>
        </p:nvSpPr>
        <p:spPr>
          <a:xfrm>
            <a:off x="11930063" y="4624834"/>
            <a:ext cx="12096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311188" y="4624834"/>
            <a:ext cx="1062038" cy="8382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12" name="Text 10"/>
          <p:cNvSpPr/>
          <p:nvPr/>
        </p:nvSpPr>
        <p:spPr>
          <a:xfrm>
            <a:off x="13558838" y="4624834"/>
            <a:ext cx="64293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5848796"/>
            <a:ext cx="171450" cy="171450"/>
          </a:xfrm>
          <a:prstGeom prst="ellipse">
            <a:avLst/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5796409"/>
            <a:ext cx="33670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Off-white / neutrals — 60%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078760" y="5848796"/>
            <a:ext cx="171450" cy="171450"/>
          </a:xfrm>
          <a:prstGeom prst="ellipse">
            <a:avLst/>
          </a:prstGeom>
          <a:solidFill>
            <a:srgbClr val="17191C"/>
          </a:solidFill>
          <a:ln/>
        </p:spPr>
      </p:sp>
      <p:sp>
        <p:nvSpPr>
          <p:cNvPr id="16" name="Text 14"/>
          <p:cNvSpPr/>
          <p:nvPr/>
        </p:nvSpPr>
        <p:spPr>
          <a:xfrm>
            <a:off x="5364510" y="5796409"/>
            <a:ext cx="29786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Ink (text &amp; dark) — 25%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732639" y="5848796"/>
            <a:ext cx="171450" cy="171450"/>
          </a:xfrm>
          <a:prstGeom prst="ellipse">
            <a:avLst/>
          </a:prstGeom>
          <a:solidFill>
            <a:srgbClr val="E12B1A"/>
          </a:solidFill>
          <a:ln/>
        </p:spPr>
      </p:sp>
      <p:sp>
        <p:nvSpPr>
          <p:cNvPr id="18" name="Text 16"/>
          <p:cNvSpPr/>
          <p:nvPr/>
        </p:nvSpPr>
        <p:spPr>
          <a:xfrm>
            <a:off x="9018389" y="5796409"/>
            <a:ext cx="2213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 Red — 10%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632109" y="5848796"/>
            <a:ext cx="171450" cy="171450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20" name="Text 18"/>
          <p:cNvSpPr/>
          <p:nvPr/>
        </p:nvSpPr>
        <p:spPr>
          <a:xfrm>
            <a:off x="11917859" y="5796409"/>
            <a:ext cx="2213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 accent — 5%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7750" y="6548884"/>
            <a:ext cx="1079182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Whitespace dan netral hangat menjaga dokumen tetap bersih dan terbaca. Merah dipakai untuk menarik perhatian — bukan bidang besar. Hijau hadir hemat sebagai sinyal positif dan data.</a:t>
            </a:r>
            <a:endParaRPr lang="en-US" sz="22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679936" y="9520238"/>
            <a:ext cx="17163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· RATIO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TYPOGRAPHY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15716"/>
            <a:ext cx="112823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Geometric untuk suara, humanist untuk cerita, mono untuk data.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047750" y="3568601"/>
            <a:ext cx="5054501" cy="5803999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940076"/>
            <a:ext cx="47427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HEADINGS · DISPLAY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9225" y="4406801"/>
            <a:ext cx="4742706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spc="-192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Aa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419225" y="5732562"/>
            <a:ext cx="474270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Sora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19225" y="6227862"/>
            <a:ext cx="4440897" cy="10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spc="63" kern="0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 abcdefghijklm 0123456789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616601" y="3568601"/>
            <a:ext cx="5054650" cy="5803999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8076" y="3940076"/>
            <a:ext cx="4742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 · 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88076" y="4406801"/>
            <a:ext cx="4742870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spc="-192" kern="0" dirty="0">
                <a:solidFill>
                  <a:srgbClr val="1719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6988076" y="5732562"/>
            <a:ext cx="47428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IBM Plex Sans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88076" y="6227862"/>
            <a:ext cx="4441051" cy="10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spc="63" kern="0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 abcdefghijklm 0123456789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2185600" y="3568601"/>
            <a:ext cx="5054650" cy="5803999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57075" y="3940076"/>
            <a:ext cx="47428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 · LABELS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557075" y="4406801"/>
            <a:ext cx="4742870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192" kern="0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12557075" y="5732562"/>
            <a:ext cx="47428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IBM Plex Mono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557075" y="6227862"/>
            <a:ext cx="4441051" cy="10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spc="63" kern="0" dirty="0">
                <a:solidFill>
                  <a:srgbClr val="8A8D9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ABCDEFGHIJKLM abcdefghijklm 0123456789</a:t>
            </a:r>
            <a:endParaRPr lang="en-US" sz="157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440025" y="9520238"/>
            <a:ext cx="19802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 · FAMILIES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— TYPOGRAPHY · HIERARCHY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047750" y="1687116"/>
            <a:ext cx="1619250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2306241"/>
            <a:ext cx="314325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H1 — Display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1047750" y="2614761"/>
            <a:ext cx="15164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Sora ExtraBold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7750" y="2889052"/>
            <a:ext cx="20307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−3.5% LS · Line 1.0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43400" y="1944291"/>
            <a:ext cx="141865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89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Operated smarter.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047750" y="3391942"/>
            <a:ext cx="1619250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887242"/>
            <a:ext cx="314325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H2 — Section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47750" y="4195763"/>
            <a:ext cx="10020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Sora Bold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47750" y="4470053"/>
            <a:ext cx="20307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−2.5% LS · Line 1.1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43400" y="3649117"/>
            <a:ext cx="1418653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90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Kemitraan broiler yang terukur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047750" y="4972943"/>
            <a:ext cx="1619250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315843"/>
            <a:ext cx="314325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H3 — Subhead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47750" y="5624364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Sora SemiBold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47750" y="5898654"/>
            <a:ext cx="20307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−1.5% LS · Line 1.2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43400" y="5230118"/>
            <a:ext cx="141865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36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Modal, sapronak, dan pasar dalam satu sistem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6401544"/>
            <a:ext cx="1619250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706344"/>
            <a:ext cx="314325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047750" y="7014865"/>
            <a:ext cx="22365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Plex Sans Regular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47750" y="7289155"/>
            <a:ext cx="8992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 1.6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43400" y="6658719"/>
            <a:ext cx="8829675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menyatukan permodalan input, sapronak berkualitas, dan akses pasar untuk peternak broiler — dijalankan lewat sistem cerdas yang membuat setiap siklus transparan dan terukur.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1047750" y="7957840"/>
            <a:ext cx="16192500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8215015"/>
            <a:ext cx="3143250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25" b="1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Caption / Label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047750" y="8523536"/>
            <a:ext cx="14135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Plex Mono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47750" y="8797826"/>
            <a:ext cx="6935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+4% LS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43400" y="8253115"/>
            <a:ext cx="141865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 04 — SIKLUS PANEN TERUKUR · DOC → PAKAN → PANEN → PASAR</a:t>
            </a:r>
            <a:endParaRPr lang="en-US" sz="13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319921" y="9520238"/>
            <a:ext cx="21123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 · HIERARCHY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TONE OF VOICE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047750" y="2057995"/>
            <a:ext cx="125730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126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Bicara seperti partner yang bisa diandalkan.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3308300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Percaya diri tanpa sombong, modern tanpa hype, dan selalu membumi — karena yang kami ajak bicara adalah peternak yang ingin kepastian, bukan janji.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4895106"/>
            <a:ext cx="3805237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5171331"/>
            <a:ext cx="4185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47750" y="5523756"/>
            <a:ext cx="41857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Clear &amp; confident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6000006"/>
            <a:ext cx="39193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Langsung ke inti, kalimat pendek. Kami tahu yang kami bicarakan.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76838" y="4895106"/>
            <a:ext cx="3805237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1" name="Text 9"/>
          <p:cNvSpPr/>
          <p:nvPr/>
        </p:nvSpPr>
        <p:spPr>
          <a:xfrm>
            <a:off x="5176838" y="5171331"/>
            <a:ext cx="4185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76838" y="5523756"/>
            <a:ext cx="41857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jargon berlebihan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176838" y="6000006"/>
            <a:ext cx="39193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Teknologi adalah alat, bukan pamer. Jelaskan dalam bahasa peternak.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05925" y="4895106"/>
            <a:ext cx="3805237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5" name="Text 13"/>
          <p:cNvSpPr/>
          <p:nvPr/>
        </p:nvSpPr>
        <p:spPr>
          <a:xfrm>
            <a:off x="9305925" y="5171331"/>
            <a:ext cx="4185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05925" y="5523756"/>
            <a:ext cx="41857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Fokus ke kepastian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05925" y="6000006"/>
            <a:ext cx="39193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Bicara hasil terukur: modal tertanggung, sapronak terstandar, panen terserap.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435013" y="4895106"/>
            <a:ext cx="3805237" cy="28575"/>
          </a:xfrm>
          <a:prstGeom prst="rect">
            <a:avLst/>
          </a:prstGeom>
          <a:solidFill>
            <a:srgbClr val="17191C"/>
          </a:solidFill>
          <a:ln/>
        </p:spPr>
      </p:sp>
      <p:sp>
        <p:nvSpPr>
          <p:cNvPr id="19" name="Text 17"/>
          <p:cNvSpPr/>
          <p:nvPr/>
        </p:nvSpPr>
        <p:spPr>
          <a:xfrm>
            <a:off x="13435013" y="5171331"/>
            <a:ext cx="4185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435013" y="5523756"/>
            <a:ext cx="41857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Membumi &amp; hormat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435013" y="6000006"/>
            <a:ext cx="39193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Peternak adalah mitra setara. Tidak menggurui, tidak merendahkan.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79861" y="9520238"/>
            <a:ext cx="23764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VOICE · PRINCIPLES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— VOICE · SAY THIS, NOT THAT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1047750" y="3473053"/>
            <a:ext cx="7953375" cy="1878062"/>
          </a:xfrm>
          <a:prstGeom prst="roundRect">
            <a:avLst>
              <a:gd name="adj" fmla="val 405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3768328"/>
            <a:ext cx="36514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SAY THIS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381125" y="4130278"/>
            <a:ext cx="341904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“Modal sapronak kami tanggung. Anda fokus ke kandang, panen kami serap.”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4438" y="3482578"/>
            <a:ext cx="9525" cy="1859012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8" name="Text 6"/>
          <p:cNvSpPr/>
          <p:nvPr/>
        </p:nvSpPr>
        <p:spPr>
          <a:xfrm>
            <a:off x="5357813" y="3768328"/>
            <a:ext cx="36409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NOT THAT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357813" y="4130278"/>
            <a:ext cx="340923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trike="sngStrike" spc="-18" kern="0" dirty="0">
                <a:solidFill>
                  <a:srgbClr val="8A8D9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“Solusi disruptif berbasis AI untuk transformasi ekosistem unggas nasional.”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86875" y="3473053"/>
            <a:ext cx="7953375" cy="1878062"/>
          </a:xfrm>
          <a:prstGeom prst="roundRect">
            <a:avLst>
              <a:gd name="adj" fmla="val 405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0250" y="3768328"/>
            <a:ext cx="36514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SAY THIS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620250" y="4130278"/>
            <a:ext cx="341904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“Setiap siklus tercatat — Anda tahu angka pakan, bobot, dan hasil panen.”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63563" y="3482578"/>
            <a:ext cx="9525" cy="1859012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596938" y="3768328"/>
            <a:ext cx="36409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NOT THAT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3596938" y="4130278"/>
            <a:ext cx="340923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trike="sngStrike" spc="-18" kern="0" dirty="0">
                <a:solidFill>
                  <a:srgbClr val="8A8D9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“Leverage real-time data synergy untuk maximize ROI ternak Anda!!!”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636865"/>
            <a:ext cx="7953375" cy="1878062"/>
          </a:xfrm>
          <a:prstGeom prst="roundRect">
            <a:avLst>
              <a:gd name="adj" fmla="val 405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1125" y="5932140"/>
            <a:ext cx="36514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SAY THIS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381125" y="6294090"/>
            <a:ext cx="341904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“Sapronak berkualitas, terstandar, datang tepat waktu.”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4438" y="5646390"/>
            <a:ext cx="9525" cy="1859012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0" name="Text 18"/>
          <p:cNvSpPr/>
          <p:nvPr/>
        </p:nvSpPr>
        <p:spPr>
          <a:xfrm>
            <a:off x="5357813" y="5932140"/>
            <a:ext cx="36409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NOT THAT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5357813" y="6294090"/>
            <a:ext cx="340923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trike="sngStrike" spc="-18" kern="0" dirty="0">
                <a:solidFill>
                  <a:srgbClr val="8A8D9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“Premium next-gen input terbaik se-Indonesia, dijamin 100%!”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86875" y="5636865"/>
            <a:ext cx="7953375" cy="1878062"/>
          </a:xfrm>
          <a:prstGeom prst="roundRect">
            <a:avLst>
              <a:gd name="adj" fmla="val 405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0250" y="5932140"/>
            <a:ext cx="36514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1F8A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SAY THIS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620250" y="6294090"/>
            <a:ext cx="341904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“Mari tumbuh bareng. Kami partner Anda, bukan sekadar pemasok.”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263563" y="5646390"/>
            <a:ext cx="9525" cy="1859012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6" name="Text 24"/>
          <p:cNvSpPr/>
          <p:nvPr/>
        </p:nvSpPr>
        <p:spPr>
          <a:xfrm>
            <a:off x="13596938" y="5932140"/>
            <a:ext cx="36409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02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✕ NOT THAT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3596938" y="6294090"/>
            <a:ext cx="340923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trike="sngStrike" spc="-18" kern="0" dirty="0">
                <a:solidFill>
                  <a:srgbClr val="8A8D9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“Bergabunglah dengan revolusi! Jangan sampai ketinggalan!”</a:t>
            </a:r>
            <a:endParaRPr lang="en-US" sz="18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319921" y="9520238"/>
            <a:ext cx="21123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VOICE · EXAMPLES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— IMAGERY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15716"/>
            <a:ext cx="12049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Peternak nyata, cahaya alami, tanpa drama.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047750" y="3092351"/>
            <a:ext cx="4259759" cy="6280249"/>
          </a:xfrm>
          <a:prstGeom prst="roundRect">
            <a:avLst>
              <a:gd name="adj" fmla="val 1789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7951" y="5825282"/>
            <a:ext cx="3039356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25" spc="71" kern="0" dirty="0">
                <a:solidFill>
                  <a:srgbClr val="A59F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FOTO ] Peternak di depan kandang natural light · eye-level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5498009" y="3092351"/>
            <a:ext cx="4259759" cy="3044875"/>
          </a:xfrm>
          <a:prstGeom prst="roundRect">
            <a:avLst>
              <a:gd name="adj" fmla="val 2503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1667" y="4343251"/>
            <a:ext cx="231244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25" spc="71" kern="0" dirty="0">
                <a:solidFill>
                  <a:srgbClr val="A59F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FOTO ] Detail tangan &amp; DOC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498009" y="6327725"/>
            <a:ext cx="4259759" cy="3044875"/>
          </a:xfrm>
          <a:prstGeom prst="roundRect">
            <a:avLst>
              <a:gd name="adj" fmla="val 2503"/>
            </a:avLst>
          </a:prstGeom>
          <a:solidFill>
            <a:srgbClr val="F6F4F0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9812" y="7578626"/>
            <a:ext cx="207600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25" spc="71" kern="0" dirty="0">
                <a:solidFill>
                  <a:srgbClr val="A59F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FOTO ] Panen / timbangan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272117" y="3800773"/>
            <a:ext cx="76649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25432" y="4520654"/>
            <a:ext cx="719101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Cahaya alami, golden hour atau siang teduh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Peternak sebagai subjek utama — ekspresi nyata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Lingkungan kandang autentik, sedikit di-styling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272117" y="6559004"/>
            <a:ext cx="76649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Don't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125432" y="7278886"/>
            <a:ext cx="7191018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Stok korporat yang kaku &amp; dingin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Over-filter, HDR, atau saturasi neon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Menutupi wajah peternak demi “estetika”</a:t>
            </a:r>
            <a:endParaRPr lang="en-US" sz="16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719846" y="9520238"/>
            <a:ext cx="2772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IMAGERY · PHOTOGRAPHY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— ICONOGRAPHY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15716"/>
            <a:ext cx="12049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Line / minimal · stroke ±2px · geometris · satu warna per ikon.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047750" y="3092351"/>
            <a:ext cx="16192500" cy="4511576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6" name="Shape 4"/>
          <p:cNvSpPr/>
          <p:nvPr/>
        </p:nvSpPr>
        <p:spPr>
          <a:xfrm>
            <a:off x="3743325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00" y="3786783"/>
            <a:ext cx="533400" cy="53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71700" y="4472583"/>
            <a:ext cx="5334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Flock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3752850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0" name="Shape 7"/>
          <p:cNvSpPr/>
          <p:nvPr/>
        </p:nvSpPr>
        <p:spPr>
          <a:xfrm>
            <a:off x="6438900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9175" y="3786783"/>
            <a:ext cx="533400" cy="533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5746" y="4472583"/>
            <a:ext cx="7163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Capital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6448425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4" name="Shape 10"/>
          <p:cNvSpPr/>
          <p:nvPr/>
        </p:nvSpPr>
        <p:spPr>
          <a:xfrm>
            <a:off x="9134475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4750" y="3786783"/>
            <a:ext cx="533400" cy="533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25630" y="4472583"/>
            <a:ext cx="8078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</a:t>
            </a:r>
            <a:endParaRPr lang="en-US" sz="1125" dirty="0"/>
          </a:p>
        </p:txBody>
      </p:sp>
      <p:sp>
        <p:nvSpPr>
          <p:cNvPr id="17" name="Shape 12"/>
          <p:cNvSpPr/>
          <p:nvPr/>
        </p:nvSpPr>
        <p:spPr>
          <a:xfrm>
            <a:off x="9144000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18" name="Shape 13"/>
          <p:cNvSpPr/>
          <p:nvPr/>
        </p:nvSpPr>
        <p:spPr>
          <a:xfrm>
            <a:off x="11830050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0325" y="3786783"/>
            <a:ext cx="533400" cy="533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12586" y="4472583"/>
            <a:ext cx="6249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Growth</a:t>
            </a:r>
            <a:endParaRPr lang="en-US" sz="1125" dirty="0"/>
          </a:p>
        </p:txBody>
      </p:sp>
      <p:sp>
        <p:nvSpPr>
          <p:cNvPr id="21" name="Shape 15"/>
          <p:cNvSpPr/>
          <p:nvPr/>
        </p:nvSpPr>
        <p:spPr>
          <a:xfrm>
            <a:off x="11839575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2" name="Shape 16"/>
          <p:cNvSpPr/>
          <p:nvPr/>
        </p:nvSpPr>
        <p:spPr>
          <a:xfrm>
            <a:off x="14525625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15900" y="3786783"/>
            <a:ext cx="533400" cy="533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08161" y="4472583"/>
            <a:ext cx="6249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</a:t>
            </a:r>
            <a:endParaRPr lang="en-US" sz="1125" dirty="0"/>
          </a:p>
        </p:txBody>
      </p:sp>
      <p:sp>
        <p:nvSpPr>
          <p:cNvPr id="25" name="Shape 18"/>
          <p:cNvSpPr/>
          <p:nvPr/>
        </p:nvSpPr>
        <p:spPr>
          <a:xfrm>
            <a:off x="14535150" y="5338614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26" name="Shape 19"/>
          <p:cNvSpPr/>
          <p:nvPr/>
        </p:nvSpPr>
        <p:spPr>
          <a:xfrm>
            <a:off x="17221200" y="3101876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11475" y="3786783"/>
            <a:ext cx="533400" cy="5334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58046" y="4472583"/>
            <a:ext cx="7163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Quality</a:t>
            </a:r>
            <a:endParaRPr lang="en-US" sz="1125" dirty="0"/>
          </a:p>
        </p:txBody>
      </p:sp>
      <p:sp>
        <p:nvSpPr>
          <p:cNvPr id="29" name="Shape 21"/>
          <p:cNvSpPr/>
          <p:nvPr/>
        </p:nvSpPr>
        <p:spPr>
          <a:xfrm>
            <a:off x="1057275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0" name="Shape 22"/>
          <p:cNvSpPr/>
          <p:nvPr/>
        </p:nvSpPr>
        <p:spPr>
          <a:xfrm>
            <a:off x="3743325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33600" y="6033046"/>
            <a:ext cx="533400" cy="5334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988790" y="6718846"/>
            <a:ext cx="8992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Logistics</a:t>
            </a:r>
            <a:endParaRPr lang="en-US" sz="1125" dirty="0"/>
          </a:p>
        </p:txBody>
      </p:sp>
      <p:sp>
        <p:nvSpPr>
          <p:cNvPr id="33" name="Shape 24"/>
          <p:cNvSpPr/>
          <p:nvPr/>
        </p:nvSpPr>
        <p:spPr>
          <a:xfrm>
            <a:off x="3752850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4" name="Shape 25"/>
          <p:cNvSpPr/>
          <p:nvPr/>
        </p:nvSpPr>
        <p:spPr>
          <a:xfrm>
            <a:off x="6438900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29175" y="6033046"/>
            <a:ext cx="533400" cy="5334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547146" y="6718846"/>
            <a:ext cx="11735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Smart system</a:t>
            </a:r>
            <a:endParaRPr lang="en-US" sz="1125" dirty="0"/>
          </a:p>
        </p:txBody>
      </p:sp>
      <p:sp>
        <p:nvSpPr>
          <p:cNvPr id="37" name="Shape 27"/>
          <p:cNvSpPr/>
          <p:nvPr/>
        </p:nvSpPr>
        <p:spPr>
          <a:xfrm>
            <a:off x="6448425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38" name="Shape 28"/>
          <p:cNvSpPr/>
          <p:nvPr/>
        </p:nvSpPr>
        <p:spPr>
          <a:xfrm>
            <a:off x="9134475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4750" y="6033046"/>
            <a:ext cx="533400" cy="5334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562850" y="6718846"/>
            <a:ext cx="5334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Cycle</a:t>
            </a:r>
            <a:endParaRPr lang="en-US" sz="1125" dirty="0"/>
          </a:p>
        </p:txBody>
      </p:sp>
      <p:sp>
        <p:nvSpPr>
          <p:cNvPr id="41" name="Shape 30"/>
          <p:cNvSpPr/>
          <p:nvPr/>
        </p:nvSpPr>
        <p:spPr>
          <a:xfrm>
            <a:off x="9144000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2" name="Shape 31"/>
          <p:cNvSpPr/>
          <p:nvPr/>
        </p:nvSpPr>
        <p:spPr>
          <a:xfrm>
            <a:off x="11830050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20325" y="6033046"/>
            <a:ext cx="533400" cy="5334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10212586" y="6718846"/>
            <a:ext cx="6249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Supply</a:t>
            </a:r>
            <a:endParaRPr lang="en-US" sz="1125" dirty="0"/>
          </a:p>
        </p:txBody>
      </p:sp>
      <p:sp>
        <p:nvSpPr>
          <p:cNvPr id="45" name="Shape 33"/>
          <p:cNvSpPr/>
          <p:nvPr/>
        </p:nvSpPr>
        <p:spPr>
          <a:xfrm>
            <a:off x="11839575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46" name="Shape 34"/>
          <p:cNvSpPr/>
          <p:nvPr/>
        </p:nvSpPr>
        <p:spPr>
          <a:xfrm>
            <a:off x="14525625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915900" y="6033046"/>
            <a:ext cx="533400" cy="5334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2862471" y="6718846"/>
            <a:ext cx="7163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Partner</a:t>
            </a:r>
            <a:endParaRPr lang="en-US" sz="1125" dirty="0"/>
          </a:p>
        </p:txBody>
      </p:sp>
      <p:sp>
        <p:nvSpPr>
          <p:cNvPr id="49" name="Shape 36"/>
          <p:cNvSpPr/>
          <p:nvPr/>
        </p:nvSpPr>
        <p:spPr>
          <a:xfrm>
            <a:off x="14535150" y="7584877"/>
            <a:ext cx="2695575" cy="9525"/>
          </a:xfrm>
          <a:prstGeom prst="rect">
            <a:avLst/>
          </a:prstGeom>
          <a:solidFill>
            <a:srgbClr val="E5E1DA"/>
          </a:solidFill>
          <a:ln/>
        </p:spPr>
      </p:sp>
      <p:sp>
        <p:nvSpPr>
          <p:cNvPr id="50" name="Shape 37"/>
          <p:cNvSpPr/>
          <p:nvPr/>
        </p:nvSpPr>
        <p:spPr>
          <a:xfrm>
            <a:off x="17221200" y="5348139"/>
            <a:ext cx="9525" cy="2246263"/>
          </a:xfrm>
          <a:prstGeom prst="rect">
            <a:avLst/>
          </a:prstGeom>
          <a:solidFill>
            <a:srgbClr val="E5E1DA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611475" y="6033046"/>
            <a:ext cx="533400" cy="5334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5329446" y="6718846"/>
            <a:ext cx="11735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Transparency</a:t>
            </a:r>
            <a:endParaRPr lang="en-US" sz="1125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15199965" y="9520238"/>
            <a:ext cx="22443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ICONOGRAPHY · SET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— APPLICATIONS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47750" y="1915716"/>
            <a:ext cx="12049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Sistem yang sama, di mana pun brand muncul.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1047750" y="3092351"/>
            <a:ext cx="8710017" cy="6280249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55418" y="4871740"/>
            <a:ext cx="2963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CARD · 90 × 54 MM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4884" y="5252740"/>
            <a:ext cx="4095750" cy="2340322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  <a:effectLst>
            <a:outerShdw sx="100000" sy="100000" kx="0" ky="0" algn="bl" rotWithShape="0" blurRad="419100" dist="1905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1109" y="5528965"/>
            <a:ext cx="621655" cy="190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31109" y="6264622"/>
            <a:ext cx="364959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1719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Rafi Pratama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631109" y="6494115"/>
            <a:ext cx="1324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Partnership Lead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631109" y="6915001"/>
            <a:ext cx="14803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rafi@deliver.co.id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113288" y="6915001"/>
            <a:ext cx="1558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+62 812 0000 0000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631109" y="7125444"/>
            <a:ext cx="1090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9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deliver.co.id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10272117" y="3092351"/>
            <a:ext cx="6968133" cy="6280249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60784" y="4422725"/>
            <a:ext cx="2849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SOCIAL POST · 1080 × 1080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2136934" y="4803725"/>
            <a:ext cx="3238500" cy="3238500"/>
          </a:xfrm>
          <a:prstGeom prst="roundRect">
            <a:avLst>
              <a:gd name="adj" fmla="val 2941"/>
            </a:avLst>
          </a:prstGeom>
          <a:solidFill>
            <a:srgbClr val="17191C"/>
          </a:solidFill>
          <a:ln/>
          <a:effectLst>
            <a:outerShdw sx="100000" sy="100000" kx="0" ky="0" algn="bl" rotWithShape="0" blurRad="419100" dist="1905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136934" y="4803725"/>
            <a:ext cx="3238500" cy="2112764"/>
          </a:xfrm>
          <a:prstGeom prst="rect">
            <a:avLst/>
          </a:prstGeom>
          <a:solidFill>
            <a:srgbClr val="202327"/>
          </a:solidFill>
          <a:ln/>
        </p:spPr>
      </p:sp>
      <p:sp>
        <p:nvSpPr>
          <p:cNvPr id="17" name="Text 14"/>
          <p:cNvSpPr/>
          <p:nvPr/>
        </p:nvSpPr>
        <p:spPr>
          <a:xfrm>
            <a:off x="13076039" y="5774382"/>
            <a:ext cx="14963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C71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FOTO PETERNAK ]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136934" y="6916489"/>
            <a:ext cx="3238500" cy="1125736"/>
          </a:xfrm>
          <a:prstGeom prst="rect">
            <a:avLst/>
          </a:prstGeom>
          <a:solidFill>
            <a:srgbClr val="E12B1A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6484" y="7106989"/>
            <a:ext cx="31013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9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KEMITRAAN BROILER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346484" y="7326064"/>
            <a:ext cx="2903982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spc="-36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Modal kami tanggung. Panen kami serap.</a:t>
            </a:r>
            <a:endParaRPr lang="en-US" sz="1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759755" y="9520238"/>
            <a:ext cx="38285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APPLICATIONS · PRINT &amp; SOCIAL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284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— APPLICATIONS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1047750" y="1805880"/>
            <a:ext cx="8710017" cy="756672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14527" y="4059287"/>
            <a:ext cx="23939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HEADER · 16 :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21509" y="4440287"/>
            <a:ext cx="4762500" cy="2678906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  <a:effectLst>
            <a:outerShdw sx="100000" sy="100000" kx="0" ky="0" algn="bl" rotWithShape="0" blurRad="419100" dist="1905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31034" y="4449812"/>
            <a:ext cx="4743450" cy="95250"/>
          </a:xfrm>
          <a:prstGeom prst="rect">
            <a:avLst/>
          </a:prstGeom>
          <a:solidFill>
            <a:srgbClr val="E12B1A"/>
          </a:solidFill>
          <a:ln/>
        </p:spPr>
      </p:sp>
      <p:sp>
        <p:nvSpPr>
          <p:cNvPr id="7" name="Text 5"/>
          <p:cNvSpPr/>
          <p:nvPr/>
        </p:nvSpPr>
        <p:spPr>
          <a:xfrm>
            <a:off x="3335834" y="4830812"/>
            <a:ext cx="45472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E12B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— OVERVIEW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335834" y="5493544"/>
            <a:ext cx="4257866" cy="696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spc="-60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Integrated agriculture, operated smarter.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5834" y="6652468"/>
            <a:ext cx="559445" cy="171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04272" y="6666756"/>
            <a:ext cx="20519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PT SARANA INDONESIA MAJU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272117" y="1805880"/>
            <a:ext cx="6968133" cy="7566720"/>
          </a:xfrm>
          <a:prstGeom prst="roundRect">
            <a:avLst>
              <a:gd name="adj" fmla="val 1367"/>
            </a:avLst>
          </a:prstGeom>
          <a:solidFill>
            <a:srgbClr val="FFFFFF"/>
          </a:solidFill>
          <a:ln w="9525">
            <a:solidFill>
              <a:srgbClr val="E5E1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6160" y="3417540"/>
            <a:ext cx="25080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UI · BUTTON STATES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184559" y="379854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· DEFAULT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2184559" y="4046190"/>
            <a:ext cx="2306985" cy="590550"/>
          </a:xfrm>
          <a:prstGeom prst="roundRect">
            <a:avLst>
              <a:gd name="adj" fmla="val 19355"/>
            </a:avLst>
          </a:prstGeom>
          <a:solidFill>
            <a:srgbClr val="E12B1A"/>
          </a:solidFill>
          <a:ln/>
        </p:spPr>
      </p:sp>
      <p:sp>
        <p:nvSpPr>
          <p:cNvPr id="15" name="Text 12"/>
          <p:cNvSpPr/>
          <p:nvPr/>
        </p:nvSpPr>
        <p:spPr>
          <a:xfrm>
            <a:off x="12432209" y="4217640"/>
            <a:ext cx="16897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Mulai kemitraan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4007703" y="4217640"/>
            <a:ext cx="274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2184559" y="482724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· HOVER/PRESS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184559" y="5074890"/>
            <a:ext cx="2306985" cy="590550"/>
          </a:xfrm>
          <a:prstGeom prst="roundRect">
            <a:avLst>
              <a:gd name="adj" fmla="val 19355"/>
            </a:avLst>
          </a:prstGeom>
          <a:solidFill>
            <a:srgbClr val="B81F12"/>
          </a:solidFill>
          <a:ln/>
        </p:spPr>
      </p:sp>
      <p:sp>
        <p:nvSpPr>
          <p:cNvPr id="19" name="Text 16"/>
          <p:cNvSpPr/>
          <p:nvPr/>
        </p:nvSpPr>
        <p:spPr>
          <a:xfrm>
            <a:off x="12432209" y="5246340"/>
            <a:ext cx="16897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Mulai kemitraan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4007703" y="5246340"/>
            <a:ext cx="274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2184559" y="585594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SECONDARY · GHOST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2184559" y="6103590"/>
            <a:ext cx="2107406" cy="628650"/>
          </a:xfrm>
          <a:prstGeom prst="roundRect">
            <a:avLst>
              <a:gd name="adj" fmla="val 18182"/>
            </a:avLst>
          </a:prstGeom>
          <a:ln w="19050">
            <a:solidFill>
              <a:srgbClr val="1719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51259" y="6294090"/>
            <a:ext cx="14521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Lihat simulasi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13789075" y="6294090"/>
            <a:ext cx="274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2184559" y="6922740"/>
            <a:ext cx="34575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DISABLED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2184559" y="7170390"/>
            <a:ext cx="2306985" cy="590550"/>
          </a:xfrm>
          <a:prstGeom prst="roundRect">
            <a:avLst>
              <a:gd name="adj" fmla="val 19355"/>
            </a:avLst>
          </a:prstGeom>
          <a:solidFill>
            <a:srgbClr val="ECE9E3"/>
          </a:solidFill>
          <a:ln/>
        </p:spPr>
      </p:sp>
      <p:sp>
        <p:nvSpPr>
          <p:cNvPr id="27" name="Text 24"/>
          <p:cNvSpPr/>
          <p:nvPr/>
        </p:nvSpPr>
        <p:spPr>
          <a:xfrm>
            <a:off x="12432209" y="7341840"/>
            <a:ext cx="16897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B4B0A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Mulai kemitraan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4007703" y="7341840"/>
            <a:ext cx="274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-16" kern="0" dirty="0">
                <a:solidFill>
                  <a:srgbClr val="B4B0A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575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486900"/>
            <a:ext cx="932408" cy="2857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4599890" y="9520238"/>
            <a:ext cx="29043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APPLICATIONS · DIGITAL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3" name="Shape 1"/>
          <p:cNvSpPr/>
          <p:nvPr/>
        </p:nvSpPr>
        <p:spPr>
          <a:xfrm>
            <a:off x="9273480" y="-1234380"/>
            <a:ext cx="10477500" cy="10477500"/>
          </a:xfrm>
          <a:prstGeom prst="rect">
            <a:avLst/>
          </a:prstGeom>
          <a:gradFill rotWithShape="1">
            <a:gsLst>
              <a:gs pos="0">
                <a:srgbClr val="E12B1A">
                  <a:alpha val="32000"/>
                </a:srgbClr>
              </a:gs>
              <a:gs pos="62000">
                <a:srgbClr val="E12B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3684389"/>
            <a:ext cx="3605659" cy="1104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4979789"/>
            <a:ext cx="80314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7191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Integrated agriculture, operated smarter.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047750" y="5665589"/>
            <a:ext cx="745617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7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Terukur, transparan, modern, dan membumi — di setiap titik sentuh brand.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7750" y="9553575"/>
            <a:ext cx="3168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PT SARANA INDONESIA MAJU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959530" y="9553575"/>
            <a:ext cx="58087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A8D9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GUIDELINES V1.0 — 2026 · DELIVER.CO.ID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2026-06-24T15:24:35Z</dcterms:created>
  <dcterms:modified xsi:type="dcterms:W3CDTF">2026-06-24T15:24:35Z</dcterms:modified>
</cp:coreProperties>
</file>